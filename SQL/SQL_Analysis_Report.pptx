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D4E3-59AE-8E40-F984-9B517903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102CB0-1A38-EB77-BD8E-7229665FCF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94D67-F34F-1D2E-0D8D-A48A5E540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5743D-EA7C-C6DD-2D70-9F5E56DAE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35F1E-611C-3334-ABFA-E0A4414E5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502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A690C-AAFD-82CE-5F73-B22402936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609C2-0A26-3C3C-0F08-4312A49A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CA678-C6D7-5A52-094E-86940D661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69E36-A760-B885-026C-2FB00EAD0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CACD-1EE6-06F5-2B5B-FA0751E81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674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F683-EFCE-6A29-761D-812EED7C7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8A813-6EA0-C3E7-F404-088DAEB04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F5B18-B784-5779-AF23-01015157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712FA-45D8-607F-0E58-1CC473BE3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71555-C9CD-716B-2D68-FFEF14797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8186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D10C-4C2C-4059-B3CB-D9B63F84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C92EC-3074-94EB-3A0D-416EECEB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5D3A1F-D372-D4A0-B8E3-EDBD80E7C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D8C0AA-300E-7AFB-2995-63AC0E02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081A38-EB41-1481-2FA5-C54BFE2D0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C5D57-085B-9272-3B58-F46F9AA6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2897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88FDB-3B5E-C82D-960E-4CAEE557F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F4B79-C01E-8096-51E0-495EBB871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4185D7-3AFD-7A87-A39D-CDDA1702A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278F3-1F22-C429-699F-3B3B2D1EE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1BEFAD-587A-559E-2082-33C241CFBB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61325-1CA5-1F5A-6D61-E0715C036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C8861-4471-A871-45ED-1C513B596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B0D4E8-5614-3353-7C72-3FD8D9A87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2007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72F87-808E-736B-AE47-1571C7663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84578-2AA5-608D-0687-88A548560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6A9EED-EB34-5D02-E125-44379800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16F8C-7A85-30CF-D099-D39AB67D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098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A69BB-03C5-CD69-5256-4A2B00906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1F0EAD-1C17-FA72-8777-93E82E32E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1ED86-08FE-0615-55EA-12A6C8AF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283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C3925-444C-607A-18AB-659A29A61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0456C-51B3-1580-728C-7A0B29D9A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97CD50-C238-D39A-97BD-5C472F14E8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3F6B8-81ED-B17E-5803-C4AABB984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6DB8D-AC18-DA41-C681-CADD9F0F8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3E601-1C95-F385-2D51-261A1162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6263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6A387-D822-7E43-0ADB-31483EE46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7F6964-22EC-CA34-1183-1197B5A279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E4DA42-0636-5A23-3B4E-051944A6C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2EA47-71C5-332F-3FD9-577718450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A7AC5-EC13-255E-A9B3-204743D7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C30E4-3E30-887D-8B2E-A581B6290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8854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BE04-5290-11E0-91AF-DC958962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B34D1-6C98-3F2A-6D91-2CD130F51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63976-6EA2-9490-DB46-8905A127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83BF2-BFE5-DB90-F98B-A12CBCA90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2EF02-2A99-093D-2BD5-F2BCDA27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2172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5926EF-CC1C-F186-8A8A-35C13FB68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5E816A-2217-117C-5783-66FE35CC3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6B357-3BB7-5109-1C8C-0557365BE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88D17-CFE2-971F-0778-77ACE53F9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44BE46-E6EF-31C0-F83D-F38B96FE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31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DA3DA8-A15F-EDDB-D21A-3B31449F7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7F3A-56F3-4944-BDC1-0C7CE49240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2AC44-F44C-C754-8A0D-B137DD764D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B73FDE-9476-4D7B-9D90-2EEA224F75A5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26D59E-3E56-4973-8782-798F2C72F6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7F371-D916-59D6-8195-2666C3B09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E983A-01AB-4B2D-803F-67187B457A9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8965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C433-D5FD-6DD8-F394-9A92F460EA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84961"/>
            <a:ext cx="12192000" cy="2370763"/>
          </a:xfrm>
        </p:spPr>
        <p:txBody>
          <a:bodyPr>
            <a:normAutofit/>
          </a:bodyPr>
          <a:lstStyle/>
          <a:p>
            <a:r>
              <a:rPr lang="en-IN" sz="8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SQL_Analysis_Report</a:t>
            </a:r>
          </a:p>
        </p:txBody>
      </p:sp>
    </p:spTree>
    <p:extLst>
      <p:ext uri="{BB962C8B-B14F-4D97-AF65-F5344CB8AC3E}">
        <p14:creationId xmlns:p14="http://schemas.microsoft.com/office/powerpoint/2010/main" val="2946753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C6A90-31C9-DDF9-85EF-EBAE0A249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8527"/>
            <a:ext cx="11969393" cy="27368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Top 10 Products by Profit</a:t>
            </a:r>
          </a:p>
          <a:p>
            <a:pPr marL="0" indent="0">
              <a:buNone/>
            </a:pPr>
            <a:r>
              <a:rPr lang="en-US" sz="2000" dirty="0"/>
              <a:t>	select Product_Name,round(sum(profit),2) as Total_Profit </a:t>
            </a:r>
          </a:p>
          <a:p>
            <a:pPr marL="0" indent="0">
              <a:buNone/>
            </a:pPr>
            <a:r>
              <a:rPr lang="en-US" sz="2000" dirty="0"/>
              <a:t>	from amazon_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</a:t>
            </a:r>
          </a:p>
          <a:p>
            <a:pPr marL="0" indent="0">
              <a:buNone/>
            </a:pPr>
            <a:r>
              <a:rPr lang="en-US" sz="2000" dirty="0"/>
              <a:t> 	group by Product_Name</a:t>
            </a:r>
          </a:p>
          <a:p>
            <a:pPr marL="0" indent="0">
              <a:buNone/>
            </a:pPr>
            <a:r>
              <a:rPr lang="en-US" sz="2000" dirty="0"/>
              <a:t>	order by Total_Profit desc limit 10;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B5C70B-E2EF-0AC4-8536-92F194BC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755" y="2621265"/>
            <a:ext cx="7771176" cy="34610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ECA846-5D88-DC9C-6717-360E12A1BCDE}"/>
              </a:ext>
            </a:extLst>
          </p:cNvPr>
          <p:cNvSpPr txBox="1"/>
          <p:nvPr/>
        </p:nvSpPr>
        <p:spPr>
          <a:xfrm>
            <a:off x="13698" y="6173142"/>
            <a:ext cx="121783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Canon imageCLASS 2200 Advanced Copier was the most profitable product.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268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45D80-2DBA-3084-F091-FDF31F12B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0515600" cy="28356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2.Profit by State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trim(substring_index(geography, ',',-1)) as State ,				round(sum(profit),2) as Total_Profit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State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Total_Profit desc;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AC5FD8-22A7-4621-D9AF-B55E34788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873" y="2835667"/>
            <a:ext cx="2519066" cy="30713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EEE2AA-F163-8C5B-7849-440F3111BA66}"/>
              </a:ext>
            </a:extLst>
          </p:cNvPr>
          <p:cNvSpPr txBox="1"/>
          <p:nvPr/>
        </p:nvSpPr>
        <p:spPr>
          <a:xfrm>
            <a:off x="82192" y="6211669"/>
            <a:ext cx="121098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California generated the highest overall profit among all states.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946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5F37F-5505-C6B3-537C-70A31DFF4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5890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Monthly Sales Trend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date_format(order_date,'%Y-%m') asMonth,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round(sum(Sales),2) as Total_Sales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Month order by Month;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621C7A-96F0-0D68-FBB6-47C35A47D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492" y="2400480"/>
            <a:ext cx="2142036" cy="3650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7BDAB0-39C2-CAEE-FFDE-427D8BE6CC9F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Sales showed a consistent upward trend from 2011 to 2014.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848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733EC-626C-F29C-1D0C-765625081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5479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4.Top 10 Customers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EmailID,round(sum(Sales),2) as Total_Sales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EmailID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Total_Sales desc limit 10;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9EB04-4347-753F-A022-6C32DE278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64" y="2547990"/>
            <a:ext cx="4093931" cy="32877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919A3C-30A3-DE02-33E3-4D902C9C42A2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small group of customers contributed a significant portion of total sales.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864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4F919-C72F-1E23-E1E1-0E421328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5890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5.Shipping Performance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Shipping_Days,count(*) as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Total_Orders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Shipping_Days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Shipping_Days;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716E3-D6A7-E1BA-B9E1-54258BACC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69" y="2589088"/>
            <a:ext cx="3001530" cy="24133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C67E3D-2E99-6310-3179-DE46E215DF93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Most orders were delivered within a few days, indicating efficient shipping operations.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953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216FE-A08B-C251-CF98-7B1AC80C8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66100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6.Profit vs Shipping Time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Shipping_Days,round(sum(profit),2) as Total_Profit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Shipping_Days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Shipping_Days;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58FD62-B5E7-4EDF-B42E-C1F4035F3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499" y="2661007"/>
            <a:ext cx="3119048" cy="26610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30ED42F-F1DC-AF20-FDCD-53CEC84E2DAB}"/>
              </a:ext>
            </a:extLst>
          </p:cNvPr>
          <p:cNvSpPr txBox="1"/>
          <p:nvPr/>
        </p:nvSpPr>
        <p:spPr>
          <a:xfrm>
            <a:off x="-1" y="6211669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Profitability varied across shipping durations, highlighting operational efficiency opportunities.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3966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384F2-7025-0208-6D37-5C62A8DEA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30308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7.Category-wise Profit Margin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Category,round(sum(sales),2) as Sales,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round(sum(profit),2) as Profit,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round((sum(profit)/sum(sales))*100,2) as  Profit_Margin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Category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Profit_Margin desc;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BD331-468A-DEE8-78D2-1A2262DE9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8" y="3030876"/>
            <a:ext cx="4109562" cy="31644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F4C560-17A6-BEF2-6BF6-1CAC55F3E4BC}"/>
              </a:ext>
            </a:extLst>
          </p:cNvPr>
          <p:cNvSpPr txBox="1"/>
          <p:nvPr/>
        </p:nvSpPr>
        <p:spPr>
          <a:xfrm>
            <a:off x="0" y="6195317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Certain categories generated higher profit margins despite lower sales volumes.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42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5B3F4-E3A4-8363-1D53-BF86AD7CA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5890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8.Most Profitable Customers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EmailID,round(sum(profit),2) as Profit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EmailID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Profit desclimit 10;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6B7063-5FBF-36AA-F416-70883AC6F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43" y="2589088"/>
            <a:ext cx="3675673" cy="30821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494938-78BE-054E-122D-24419272DE54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High-revenue customers were not always the most profitable customers.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744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08EF6-5AE7-A91E-1F68-D63EBBCE4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5262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9.Repeat Customers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EmailId ,count(distinct Order_ID) as Orders_Count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EmailID having  count(distinct Order_ID) &gt; 1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Orders_Count desc;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A553B9-D1EE-CAF4-F906-001306E41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52" y="2526224"/>
            <a:ext cx="4038418" cy="35355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FF10DD-5FA2-3AFF-5DE1-AAA2C6FB3F3A}"/>
              </a:ext>
            </a:extLst>
          </p:cNvPr>
          <p:cNvSpPr txBox="1"/>
          <p:nvPr/>
        </p:nvSpPr>
        <p:spPr>
          <a:xfrm>
            <a:off x="-1" y="6211669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Repeat customers represented a valuable customer segment and contributed significantly to revenue.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785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42448-3264-E450-C651-903DEB9AC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289731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10.Sales vs Profit by State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trim(substring_index(geography, ',',-1)) as State,								round(sum(sales),2) as Sales,round(sum(profit),2) as Profit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State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sales desc;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836E0-F007-0A77-9FFC-BABB3919B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73" y="2935111"/>
            <a:ext cx="3794291" cy="31060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FADE3D-EE37-3E76-8DA9-542EE87DE6CB}"/>
              </a:ext>
            </a:extLst>
          </p:cNvPr>
          <p:cNvSpPr txBox="1"/>
          <p:nvPr/>
        </p:nvSpPr>
        <p:spPr>
          <a:xfrm>
            <a:off x="-1" y="6211669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States with high sales did not always generate the highest profit.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5358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9E1C6-675C-7879-404B-CFFAD55F65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34290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11.Rank Products by Profit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 product_profit as(   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select  Product_Name,round(sum(profit),2) as Total_Profit   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from amazon_ Cleaned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group by Product_Name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)select *,      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rank() over(order by Total_Profit desc) as Product_Rank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from product_profit;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endParaRPr lang="en-IN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17E287-49BB-DDB6-5DC6-9C6FBC3FF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683" y="3429000"/>
            <a:ext cx="7137109" cy="26122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DED1C2-5DA5-8DE5-4068-218C24C24CF4}"/>
              </a:ext>
            </a:extLst>
          </p:cNvPr>
          <p:cNvSpPr txBox="1"/>
          <p:nvPr/>
        </p:nvSpPr>
        <p:spPr>
          <a:xfrm>
            <a:off x="0" y="6211669"/>
            <a:ext cx="121029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small number of products accounted for a large share of total profits.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2303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E7B31-601C-9ACA-63DF-E3A807796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12192000" cy="31952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12.Revenue Contribution %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Category,round(sum(sales),2)as Revenue,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round(sum(sales) *100/(select sum(sales) from 						amazon_ Cleaned),2) as Revenue_Percentage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from amazon_ Cleaned 	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group by Category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 by Revenue desc;</a:t>
            </a:r>
          </a:p>
          <a:p>
            <a:pPr marL="0" indent="0">
              <a:buNone/>
            </a:pPr>
            <a:r>
              <a:rPr lang="en-US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83EB4-E367-2342-5ECD-8E1E3673C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764" y="2948682"/>
            <a:ext cx="3397108" cy="31952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59E33A-183F-505A-9A38-CDC736D578CB}"/>
              </a:ext>
            </a:extLst>
          </p:cNvPr>
          <p:cNvSpPr txBox="1"/>
          <p:nvPr/>
        </p:nvSpPr>
        <p:spPr>
          <a:xfrm>
            <a:off x="0" y="6211669"/>
            <a:ext cx="116303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A few categories contributed the majority of total revenue, following the Pareto principle.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209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845</Words>
  <Application>Microsoft Office PowerPoint</Application>
  <PresentationFormat>Widescreen</PresentationFormat>
  <Paragraphs>103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SQL_Analysis_Report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Manikanta Srinivas Chintalapudi</dc:creator>
  <cp:lastModifiedBy>Manikanta Srinivas Chintalapudi</cp:lastModifiedBy>
  <cp:revision>4</cp:revision>
  <dcterms:created xsi:type="dcterms:W3CDTF">2026-06-11T17:58:22Z</dcterms:created>
  <dcterms:modified xsi:type="dcterms:W3CDTF">2026-06-11T19:12:00Z</dcterms:modified>
</cp:coreProperties>
</file>